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38" d="100"/>
          <a:sy n="138" d="100"/>
        </p:scale>
        <p:origin x="834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jamín Andrés Vásquez Dekock" userId="46fd47c9-65fe-41d9-84ed-3d21bba9ddcc" providerId="ADAL" clId="{9368E209-EB94-4DCB-85A5-3D8D1BEFB42B}"/>
    <pc:docChg chg="modSld">
      <pc:chgData name="Benjamín Andrés Vásquez Dekock" userId="46fd47c9-65fe-41d9-84ed-3d21bba9ddcc" providerId="ADAL" clId="{9368E209-EB94-4DCB-85A5-3D8D1BEFB42B}" dt="2026-06-09T23:02:16.814" v="23" actId="20577"/>
      <pc:docMkLst>
        <pc:docMk/>
      </pc:docMkLst>
      <pc:sldChg chg="modSp mod">
        <pc:chgData name="Benjamín Andrés Vásquez Dekock" userId="46fd47c9-65fe-41d9-84ed-3d21bba9ddcc" providerId="ADAL" clId="{9368E209-EB94-4DCB-85A5-3D8D1BEFB42B}" dt="2026-06-09T23:01:30.158" v="17" actId="20577"/>
        <pc:sldMkLst>
          <pc:docMk/>
          <pc:sldMk cId="0" sldId="256"/>
        </pc:sldMkLst>
        <pc:spChg chg="mod">
          <ac:chgData name="Benjamín Andrés Vásquez Dekock" userId="46fd47c9-65fe-41d9-84ed-3d21bba9ddcc" providerId="ADAL" clId="{9368E209-EB94-4DCB-85A5-3D8D1BEFB42B}" dt="2026-06-09T23:01:30.158" v="17" actId="20577"/>
          <ac:spMkLst>
            <pc:docMk/>
            <pc:sldMk cId="0" sldId="256"/>
            <ac:spMk id="7" creationId="{00000000-0000-0000-0000-000000000000}"/>
          </ac:spMkLst>
        </pc:spChg>
      </pc:sldChg>
      <pc:sldChg chg="modSp mod">
        <pc:chgData name="Benjamín Andrés Vásquez Dekock" userId="46fd47c9-65fe-41d9-84ed-3d21bba9ddcc" providerId="ADAL" clId="{9368E209-EB94-4DCB-85A5-3D8D1BEFB42B}" dt="2026-06-09T23:02:16.814" v="23" actId="20577"/>
        <pc:sldMkLst>
          <pc:docMk/>
          <pc:sldMk cId="0" sldId="261"/>
        </pc:sldMkLst>
        <pc:spChg chg="mod">
          <ac:chgData name="Benjamín Andrés Vásquez Dekock" userId="46fd47c9-65fe-41d9-84ed-3d21bba9ddcc" providerId="ADAL" clId="{9368E209-EB94-4DCB-85A5-3D8D1BEFB42B}" dt="2026-06-09T23:02:16.814" v="23" actId="20577"/>
          <ac:spMkLst>
            <pc:docMk/>
            <pc:sldMk cId="0" sldId="261"/>
            <ac:spMk id="8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2026-06-09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2026-06-09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2026-06-09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2026-06-09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2026-06-09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2026-06-09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2026-06-09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2026-06-09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2026-06-09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2026-06-09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2026-06-09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2026-06-09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Actualizacion del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4B8A6"/>
                </a:solidFill>
                <a:latin typeface="Calibri"/>
              </a:rPr>
              <a:t>EPA Fuel Economy  |  EYP2307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2578608"/>
            <a:ext cx="5486400" cy="45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798064"/>
            <a:ext cx="8046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 dirty="0" err="1">
                <a:solidFill>
                  <a:srgbClr val="A0C4BF"/>
                </a:solidFill>
                <a:latin typeface="Calibri"/>
              </a:rPr>
              <a:t>Definicion</a:t>
            </a:r>
            <a:r>
              <a:rPr sz="1400" b="0" i="1" dirty="0">
                <a:solidFill>
                  <a:srgbClr val="A0C4BF"/>
                </a:solidFill>
                <a:latin typeface="Calibri"/>
              </a:rPr>
              <a:t> de </a:t>
            </a:r>
            <a:r>
              <a:rPr sz="1400" b="0" i="1" dirty="0" err="1">
                <a:solidFill>
                  <a:srgbClr val="A0C4BF"/>
                </a:solidFill>
                <a:latin typeface="Calibri"/>
              </a:rPr>
              <a:t>modelos</a:t>
            </a:r>
            <a:endParaRPr sz="1400" b="0" i="1" dirty="0">
              <a:solidFill>
                <a:srgbClr val="A0C4B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9E98"/>
                </a:solidFill>
                <a:latin typeface="Calibri"/>
              </a:rPr>
              <a:t>Junio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8412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Estado del proyecto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31520"/>
            <a:ext cx="416052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731520"/>
            <a:ext cx="4160520" cy="384048"/>
          </a:xfrm>
          <a:prstGeom prst="rect">
            <a:avLst/>
          </a:prstGeom>
          <a:solidFill>
            <a:srgbClr val="0D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758952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Completado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207008"/>
            <a:ext cx="3886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- Limpieza de datos (Python) — 84 a 16 variables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682496"/>
            <a:ext cx="3886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- Variables codificadas: dummies, binarias, gears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2157984"/>
            <a:ext cx="3886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- EDA: histogramas, correlaciones, evolucion temporal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633472"/>
            <a:ext cx="3886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- PHEVs: reemplazados con phevComb en comb08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3108960"/>
            <a:ext cx="3886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- Dataset limpio exportado (vehicles_clean.csv)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3584448"/>
            <a:ext cx="3886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- Introduccion y limpieza del informe redactadas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09160" y="731520"/>
            <a:ext cx="416052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709160" y="731520"/>
            <a:ext cx="416052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73752" y="758952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Pendiente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73752" y="1207008"/>
            <a:ext cx="3886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- Ejecutar M0, M1 y M2 en 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73752" y="1682496"/>
            <a:ext cx="3886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- Diagnostico de residuos y VIF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3752" y="2157984"/>
            <a:ext cx="3886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- Decidir: gears numerica vs categorica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73752" y="2633472"/>
            <a:ext cx="3886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- Decidir: interaccion en M2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3752" y="3108960"/>
            <a:ext cx="3886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- Submodelos por marca y modelo (top 10)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73752" y="3584448"/>
            <a:ext cx="3886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- Metodologia y resultados del informe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8412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Decisiones clave de limpieza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31520"/>
            <a:ext cx="420624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731520"/>
            <a:ext cx="64008" cy="2103120"/>
          </a:xfrm>
          <a:prstGeom prst="rect">
            <a:avLst/>
          </a:prstGeom>
          <a:solidFill>
            <a:srgbClr val="0D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79" y="804672"/>
            <a:ext cx="39776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3A5C"/>
                </a:solidFill>
                <a:latin typeface="Calibri"/>
              </a:rPr>
              <a:t>drive -&gt; 3 categorias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188720"/>
            <a:ext cx="3977639" cy="1572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8 categorias originales simplificadas a FWD, RWD y 4WD/AWD.
2-Wheel Drive y Part-time 4WD excluidos (4.8% del total).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731520"/>
            <a:ext cx="420624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709160" y="731520"/>
            <a:ext cx="64008" cy="2103120"/>
          </a:xfrm>
          <a:prstGeom prst="rect">
            <a:avLst/>
          </a:prstGeom>
          <a:solidFill>
            <a:srgbClr val="0D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46320" y="804672"/>
            <a:ext cx="39776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3A5C"/>
                </a:solidFill>
                <a:latin typeface="Calibri"/>
              </a:rPr>
              <a:t>atvType -&gt; 5 categorias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188720"/>
            <a:ext cx="3977639" cy="1572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EV, FCV, eFCV, CNG y Bifuel excluidos (3.2%).
NaN codificados como Gasoline.
PHEVs usan phevComb en lugar de comb08.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926080"/>
            <a:ext cx="42062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" y="2926080"/>
            <a:ext cx="64008" cy="20116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79" y="2999232"/>
            <a:ext cx="39776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3A5C"/>
                </a:solidFill>
                <a:latin typeface="Calibri"/>
              </a:rPr>
              <a:t>trany -&gt; transType + gears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3383280"/>
            <a:ext cx="3977639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Separada en tipo de transmision (Manual/Automatic/CVT)
y numero de velocidades.
CVT: gears=NaN -&gt; excluidos del modelo.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9160" y="2926080"/>
            <a:ext cx="42062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709160" y="2926080"/>
            <a:ext cx="64008" cy="20116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46320" y="2999232"/>
            <a:ext cx="39776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3A5C"/>
                </a:solidFill>
                <a:latin typeface="Calibri"/>
              </a:rPr>
              <a:t>84 -&gt; 16 variables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383280"/>
            <a:ext cx="3977639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Dos rondas de eliminacion:
  - Leakage: barrels, feScore, city08, etc.
  - Duplicados, metadatos, variables EV
Detalle completo en el apendice.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8412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Limitaciones del modelo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Variables ausentes que sesgan los coeficientes estimados: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33271"/>
            <a:ext cx="42062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033271"/>
            <a:ext cx="64008" cy="1783080"/>
          </a:xfrm>
          <a:prstGeom prst="rect">
            <a:avLst/>
          </a:prstGeom>
          <a:solidFill>
            <a:srgbClr val="0D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79" y="1106424"/>
            <a:ext cx="39776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3A5C"/>
                </a:solidFill>
                <a:latin typeface="Calibri"/>
              </a:rPr>
              <a:t>Peso del vehiculo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490472"/>
            <a:ext cx="3977639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El predictor fisicamente mas importante. Sin el, displ, cylinders y drive absorben parte de su efecto (sesgo de variable omitida).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0" y="1033271"/>
            <a:ext cx="42062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09160" y="1033271"/>
            <a:ext cx="64008" cy="1783080"/>
          </a:xfrm>
          <a:prstGeom prst="rect">
            <a:avLst/>
          </a:prstGeom>
          <a:solidFill>
            <a:srgbClr val="0D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46320" y="1106424"/>
            <a:ext cx="39776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3A5C"/>
                </a:solidFill>
                <a:latin typeface="Calibri"/>
              </a:rPr>
              <a:t>Clase del vehiculo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490472"/>
            <a:ext cx="3977639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VClass y volumenes de pasajeros eliminados por alta tasa de NaN. Hubieran servido como proxy de tamanio.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862072"/>
            <a:ext cx="42062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" y="2862072"/>
            <a:ext cx="64008" cy="2011680"/>
          </a:xfrm>
          <a:prstGeom prst="rect">
            <a:avLst/>
          </a:prstGeom>
          <a:solidFill>
            <a:srgbClr val="0D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79" y="2935224"/>
            <a:ext cx="39776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3A5C"/>
                </a:solidFill>
                <a:latin typeface="Calibri"/>
              </a:rPr>
              <a:t>cylinders como proxy de segmento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3319272"/>
            <a:ext cx="3977639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Un I4 2.0L, un V6 3.0L y un V12 6.0L comparten 0.5 L/cil pero son vehiculos completamente distintos en uso y peso.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9160" y="2862072"/>
            <a:ext cx="42062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709160" y="2862072"/>
            <a:ext cx="64008" cy="2011680"/>
          </a:xfrm>
          <a:prstGeom prst="rect">
            <a:avLst/>
          </a:prstGeom>
          <a:solidFill>
            <a:srgbClr val="0D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46320" y="2935224"/>
            <a:ext cx="39776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3A5C"/>
                </a:solidFill>
                <a:latin typeface="Calibri"/>
              </a:rPr>
              <a:t>CVT excluidos de la regresion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319272"/>
            <a:ext cx="3977639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gears=NaN para CVT -&gt; R los elimina automaticamente al ajustar M0-M2. Se analizan como pregunta separada fuera del proyecto principal.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8412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Definicion de modelos — M0, M1, M2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4748B"/>
                </a:solidFill>
                <a:latin typeface="Calibri"/>
              </a:rPr>
              <a:t>Dataset: vehiculos no-CVT  |  Centradas: displ* = displ - mean(displ),   year* = year - mean(year)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42415"/>
            <a:ext cx="85953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042415"/>
            <a:ext cx="64008" cy="1371600"/>
          </a:xfrm>
          <a:prstGeom prst="rect">
            <a:avLst/>
          </a:prstGeom>
          <a:solidFill>
            <a:srgbClr val="0D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06424"/>
            <a:ext cx="8046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3A5C"/>
                </a:solidFill>
                <a:latin typeface="Calibri"/>
              </a:rPr>
              <a:t>M0 — Solo volumen del motor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72184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onsolas"/>
              </a:rPr>
              <a:t>comb08 = b0 + b1*displ* + b2*year* + b3*(displ*:year*) + b4*gears + b5*tCharger + b6*sCharger + b7*startStop + b8*FWD + b9*RWD + b10*Manual + 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84248"/>
            <a:ext cx="8046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4748B"/>
                </a:solidFill>
                <a:latin typeface="Calibri"/>
              </a:rPr>
              <a:t>Referencia: drive=4WD/AWD,  transType=Automatic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505456"/>
            <a:ext cx="85953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2505456"/>
            <a:ext cx="64008" cy="13716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569464"/>
            <a:ext cx="8046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3A5C"/>
                </a:solidFill>
                <a:latin typeface="Calibri"/>
              </a:rPr>
              <a:t>M1 — Volumen + cilindros categorica  (ref: 4 cil.)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35224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onsolas"/>
              </a:rPr>
              <a:t>comb08 = b0 + b1*displ* + b2*year* + b3*(displ*:year*) + b4*cyl&lt;4 + b5*cyl5 + b6*cyl6 + b7*cyl8 + b8*cyl&gt;8 + controles + 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447288"/>
            <a:ext cx="8046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4748B"/>
                </a:solidFill>
                <a:latin typeface="Calibri"/>
              </a:rPr>
              <a:t>Referencia cilindros: 4 cil.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968496"/>
            <a:ext cx="859536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4320" y="3968496"/>
            <a:ext cx="64008" cy="1170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4032504"/>
            <a:ext cx="8046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3A5C"/>
                </a:solidFill>
                <a:latin typeface="Calibri"/>
              </a:rPr>
              <a:t>M2 — Volumen por cilindro  [interaccion pendiente]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398264"/>
            <a:ext cx="8046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onsolas"/>
              </a:rPr>
              <a:t>comb08 = b0 + b1*(displ/cyl)* + b2*year* + [b3 * ??? * year*] + controles + 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910328"/>
            <a:ext cx="8046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4748B"/>
                </a:solidFill>
                <a:latin typeface="Calibri"/>
              </a:rPr>
              <a:t>El termino de interaccion esta pendiente de decision grupal (slide siguiente).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8412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Decisiones pendientes — necesitamos votar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0C4BF"/>
                </a:solidFill>
                <a:latin typeface="Calibri"/>
              </a:rPr>
              <a:t>Discutan y elijan una opcion antes de ejecutar los modelos.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42415"/>
            <a:ext cx="8412480" cy="1828800"/>
          </a:xfrm>
          <a:prstGeom prst="rect">
            <a:avLst/>
          </a:prstGeom>
          <a:solidFill>
            <a:srgbClr val="1E3D5A"/>
          </a:solidFill>
          <a:ln w="6350">
            <a:solidFill>
              <a:srgbClr val="2D5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042415"/>
            <a:ext cx="64008" cy="18288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115568"/>
            <a:ext cx="7863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B8A6"/>
                </a:solidFill>
                <a:latin typeface="Calibri"/>
              </a:rPr>
              <a:t>1.  Como tratar gears?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17904"/>
            <a:ext cx="786384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C8DDE8"/>
                </a:solidFill>
                <a:latin typeface="Calibri"/>
              </a:rPr>
              <a:t>Numerica:   </a:t>
            </a:r>
            <a:r>
              <a:rPr sz="1100" b="0" i="0" dirty="0" err="1">
                <a:solidFill>
                  <a:srgbClr val="C8DDE8"/>
                </a:solidFill>
                <a:latin typeface="Calibri"/>
              </a:rPr>
              <a:t>coeficiente</a:t>
            </a:r>
            <a:r>
              <a:rPr sz="1100" b="0" i="0" dirty="0">
                <a:solidFill>
                  <a:srgbClr val="C8DDE8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C8DDE8"/>
                </a:solidFill>
                <a:latin typeface="Calibri"/>
              </a:rPr>
              <a:t>unico</a:t>
            </a:r>
            <a:r>
              <a:rPr sz="1100" b="0" i="0" dirty="0">
                <a:solidFill>
                  <a:srgbClr val="C8DDE8"/>
                </a:solidFill>
                <a:latin typeface="Calibri"/>
              </a:rPr>
              <a:t>; </a:t>
            </a:r>
            <a:r>
              <a:rPr sz="1100" b="0" i="0" dirty="0" err="1">
                <a:solidFill>
                  <a:srgbClr val="C8DDE8"/>
                </a:solidFill>
                <a:latin typeface="Calibri"/>
              </a:rPr>
              <a:t>cada</a:t>
            </a:r>
            <a:r>
              <a:rPr sz="1100" b="0" i="0" dirty="0">
                <a:solidFill>
                  <a:srgbClr val="C8DDE8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C8DDE8"/>
                </a:solidFill>
                <a:latin typeface="Calibri"/>
              </a:rPr>
              <a:t>marcha</a:t>
            </a:r>
            <a:r>
              <a:rPr sz="1100" b="0" i="0" dirty="0">
                <a:solidFill>
                  <a:srgbClr val="C8DDE8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C8DDE8"/>
                </a:solidFill>
                <a:latin typeface="Calibri"/>
              </a:rPr>
              <a:t>adicional</a:t>
            </a:r>
            <a:r>
              <a:rPr sz="1100" b="0" i="0" dirty="0">
                <a:solidFill>
                  <a:srgbClr val="C8DDE8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C8DDE8"/>
                </a:solidFill>
                <a:latin typeface="Calibri"/>
              </a:rPr>
              <a:t>tiene</a:t>
            </a:r>
            <a:r>
              <a:rPr sz="1100" b="0" i="0" dirty="0">
                <a:solidFill>
                  <a:srgbClr val="C8DDE8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C8DDE8"/>
                </a:solidFill>
                <a:latin typeface="Calibri"/>
              </a:rPr>
              <a:t>el</a:t>
            </a:r>
            <a:r>
              <a:rPr sz="1100" b="0" i="0" dirty="0">
                <a:solidFill>
                  <a:srgbClr val="C8DDE8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C8DDE8"/>
                </a:solidFill>
                <a:latin typeface="Calibri"/>
              </a:rPr>
              <a:t>mismo</a:t>
            </a:r>
            <a:r>
              <a:rPr sz="1100" b="0" i="0" dirty="0">
                <a:solidFill>
                  <a:srgbClr val="C8DDE8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C8DDE8"/>
                </a:solidFill>
                <a:latin typeface="Calibri"/>
              </a:rPr>
              <a:t>efecto</a:t>
            </a:r>
            <a:r>
              <a:rPr sz="1100" b="0" i="0" dirty="0">
                <a:solidFill>
                  <a:srgbClr val="C8DDE8"/>
                </a:solidFill>
                <a:latin typeface="Calibri"/>
              </a:rPr>
              <a:t> incremental. Modelo mas </a:t>
            </a:r>
            <a:r>
              <a:rPr sz="1100" b="0" i="0" dirty="0" err="1">
                <a:solidFill>
                  <a:srgbClr val="C8DDE8"/>
                </a:solidFill>
                <a:latin typeface="Calibri"/>
              </a:rPr>
              <a:t>parsimonioso</a:t>
            </a:r>
            <a:r>
              <a:rPr sz="1100" b="0" i="0" dirty="0">
                <a:solidFill>
                  <a:srgbClr val="C8DDE8"/>
                </a:solidFill>
                <a:latin typeface="Calibri"/>
              </a:rPr>
              <a:t>.
</a:t>
            </a:r>
            <a:r>
              <a:rPr sz="1100" b="0" i="0" dirty="0" err="1">
                <a:solidFill>
                  <a:srgbClr val="C8DDE8"/>
                </a:solidFill>
                <a:latin typeface="Calibri"/>
              </a:rPr>
              <a:t>Categorica</a:t>
            </a:r>
            <a:r>
              <a:rPr sz="1100" b="0" i="0" dirty="0">
                <a:solidFill>
                  <a:srgbClr val="C8DDE8"/>
                </a:solidFill>
                <a:latin typeface="Calibri"/>
              </a:rPr>
              <a:t>: </a:t>
            </a:r>
            <a:r>
              <a:rPr sz="1100" b="0" i="0" dirty="0" err="1">
                <a:solidFill>
                  <a:srgbClr val="C8DDE8"/>
                </a:solidFill>
                <a:latin typeface="Calibri"/>
              </a:rPr>
              <a:t>efecto</a:t>
            </a:r>
            <a:r>
              <a:rPr sz="1100" b="0" i="0" dirty="0">
                <a:solidFill>
                  <a:srgbClr val="C8DDE8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C8DDE8"/>
                </a:solidFill>
                <a:latin typeface="Calibri"/>
              </a:rPr>
              <a:t>distinto</a:t>
            </a:r>
            <a:r>
              <a:rPr sz="1100" b="0" i="0" dirty="0">
                <a:solidFill>
                  <a:srgbClr val="C8DDE8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C8DDE8"/>
                </a:solidFill>
                <a:latin typeface="Calibri"/>
              </a:rPr>
              <a:t>por</a:t>
            </a:r>
            <a:r>
              <a:rPr sz="1100" b="0" i="0" dirty="0">
                <a:solidFill>
                  <a:srgbClr val="C8DDE8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C8DDE8"/>
                </a:solidFill>
                <a:latin typeface="Calibri"/>
              </a:rPr>
              <a:t>cantidad</a:t>
            </a:r>
            <a:r>
              <a:rPr sz="1100" b="0" i="0" dirty="0">
                <a:solidFill>
                  <a:srgbClr val="C8DDE8"/>
                </a:solidFill>
                <a:latin typeface="Calibri"/>
              </a:rPr>
              <a:t> de </a:t>
            </a:r>
            <a:r>
              <a:rPr sz="1100" b="0" i="0" dirty="0" err="1">
                <a:solidFill>
                  <a:srgbClr val="C8DDE8"/>
                </a:solidFill>
                <a:latin typeface="Calibri"/>
              </a:rPr>
              <a:t>marchas</a:t>
            </a:r>
            <a:r>
              <a:rPr sz="1100" b="0" i="0" dirty="0">
                <a:solidFill>
                  <a:srgbClr val="C8DDE8"/>
                </a:solidFill>
                <a:latin typeface="Calibri"/>
              </a:rPr>
              <a:t>. Mas flexible, </a:t>
            </a:r>
            <a:r>
              <a:rPr sz="1100" b="0" i="0" dirty="0" err="1">
                <a:solidFill>
                  <a:srgbClr val="C8DDE8"/>
                </a:solidFill>
                <a:latin typeface="Calibri"/>
              </a:rPr>
              <a:t>pero</a:t>
            </a:r>
            <a:r>
              <a:rPr sz="1100" b="0" i="0" dirty="0">
                <a:solidFill>
                  <a:srgbClr val="C8DDE8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C8DDE8"/>
                </a:solidFill>
                <a:latin typeface="Calibri"/>
              </a:rPr>
              <a:t>agrega</a:t>
            </a:r>
            <a:r>
              <a:rPr sz="1100" b="0" i="0" dirty="0">
                <a:solidFill>
                  <a:srgbClr val="C8DDE8"/>
                </a:solidFill>
                <a:latin typeface="Calibri"/>
              </a:rPr>
              <a:t> ~7 </a:t>
            </a:r>
            <a:r>
              <a:rPr sz="1100" b="0" i="0" dirty="0" err="1">
                <a:solidFill>
                  <a:srgbClr val="C8DDE8"/>
                </a:solidFill>
                <a:latin typeface="Calibri"/>
              </a:rPr>
              <a:t>dummie</a:t>
            </a:r>
            <a:r>
              <a:rPr sz="1100" b="0" i="0" dirty="0">
                <a:solidFill>
                  <a:srgbClr val="C8DDE8"/>
                </a:solidFill>
                <a:latin typeface="Calibri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017520"/>
            <a:ext cx="8412480" cy="1828800"/>
          </a:xfrm>
          <a:prstGeom prst="rect">
            <a:avLst/>
          </a:prstGeom>
          <a:solidFill>
            <a:srgbClr val="1E3D5A"/>
          </a:solidFill>
          <a:ln w="6350">
            <a:solidFill>
              <a:srgbClr val="2D5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3017520"/>
            <a:ext cx="64008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3090672"/>
            <a:ext cx="7863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2.  Que interaccion usar en M2?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93008"/>
            <a:ext cx="786384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C8DDE8"/>
                </a:solidFill>
                <a:latin typeface="Calibri"/>
              </a:rPr>
              <a:t>Opcion</a:t>
            </a:r>
            <a:r>
              <a:rPr sz="1100" b="0" i="0" dirty="0">
                <a:solidFill>
                  <a:srgbClr val="C8DDE8"/>
                </a:solidFill>
                <a:latin typeface="Calibri"/>
              </a:rPr>
              <a:t> A — </a:t>
            </a:r>
            <a:r>
              <a:rPr sz="1100" b="0" i="0" dirty="0" err="1">
                <a:solidFill>
                  <a:srgbClr val="C8DDE8"/>
                </a:solidFill>
                <a:latin typeface="Calibri"/>
              </a:rPr>
              <a:t>displ</a:t>
            </a:r>
            <a:r>
              <a:rPr sz="1100" b="0" i="0" dirty="0">
                <a:solidFill>
                  <a:srgbClr val="C8DDE8"/>
                </a:solidFill>
                <a:latin typeface="Calibri"/>
              </a:rPr>
              <a:t>*:year*   </a:t>
            </a:r>
            <a:r>
              <a:rPr sz="1100" b="0" i="0" dirty="0" err="1">
                <a:solidFill>
                  <a:srgbClr val="C8DDE8"/>
                </a:solidFill>
                <a:latin typeface="Calibri"/>
              </a:rPr>
              <a:t>Interaccion</a:t>
            </a:r>
            <a:r>
              <a:rPr sz="1100" b="0" i="0" dirty="0">
                <a:solidFill>
                  <a:srgbClr val="C8DDE8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C8DDE8"/>
                </a:solidFill>
                <a:latin typeface="Calibri"/>
              </a:rPr>
              <a:t>identica</a:t>
            </a:r>
            <a:r>
              <a:rPr sz="1100" b="0" i="0" dirty="0">
                <a:solidFill>
                  <a:srgbClr val="C8DDE8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C8DDE8"/>
                </a:solidFill>
                <a:latin typeface="Calibri"/>
              </a:rPr>
              <a:t>en</a:t>
            </a:r>
            <a:r>
              <a:rPr sz="1100" b="0" i="0" dirty="0">
                <a:solidFill>
                  <a:srgbClr val="C8DDE8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C8DDE8"/>
                </a:solidFill>
                <a:latin typeface="Calibri"/>
              </a:rPr>
              <a:t>los</a:t>
            </a:r>
            <a:r>
              <a:rPr sz="1100" b="0" i="0" dirty="0">
                <a:solidFill>
                  <a:srgbClr val="C8DDE8"/>
                </a:solidFill>
                <a:latin typeface="Calibri"/>
              </a:rPr>
              <a:t> 3 </a:t>
            </a:r>
            <a:r>
              <a:rPr sz="1100" b="0" i="0" dirty="0" err="1">
                <a:solidFill>
                  <a:srgbClr val="C8DDE8"/>
                </a:solidFill>
                <a:latin typeface="Calibri"/>
              </a:rPr>
              <a:t>modelos</a:t>
            </a:r>
            <a:r>
              <a:rPr sz="1100" b="0" i="0" dirty="0">
                <a:solidFill>
                  <a:srgbClr val="C8DDE8"/>
                </a:solidFill>
                <a:latin typeface="Calibri"/>
              </a:rPr>
              <a:t>. </a:t>
            </a:r>
            <a:r>
              <a:rPr sz="1100" b="0" i="0" dirty="0" err="1">
                <a:solidFill>
                  <a:srgbClr val="C8DDE8"/>
                </a:solidFill>
                <a:latin typeface="Calibri"/>
              </a:rPr>
              <a:t>Comparacion</a:t>
            </a:r>
            <a:r>
              <a:rPr sz="1100" b="0" i="0" dirty="0">
                <a:solidFill>
                  <a:srgbClr val="C8DDE8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C8DDE8"/>
                </a:solidFill>
                <a:latin typeface="Calibri"/>
              </a:rPr>
              <a:t>limpia</a:t>
            </a:r>
            <a:r>
              <a:rPr sz="1100" b="0" i="0" dirty="0">
                <a:solidFill>
                  <a:srgbClr val="C8DDE8"/>
                </a:solidFill>
                <a:latin typeface="Calibri"/>
              </a:rPr>
              <a:t> M0 vs M1 vs M2. Pero introduce </a:t>
            </a:r>
            <a:r>
              <a:rPr sz="1100" b="0" i="0" dirty="0" err="1">
                <a:solidFill>
                  <a:srgbClr val="C8DDE8"/>
                </a:solidFill>
                <a:latin typeface="Calibri"/>
              </a:rPr>
              <a:t>colinealidad</a:t>
            </a:r>
            <a:r>
              <a:rPr sz="1100" b="0" i="0" dirty="0">
                <a:solidFill>
                  <a:srgbClr val="C8DDE8"/>
                </a:solidFill>
                <a:latin typeface="Calibri"/>
              </a:rPr>
              <a:t> entre </a:t>
            </a:r>
            <a:r>
              <a:rPr sz="1100" b="0" i="0" dirty="0" err="1">
                <a:solidFill>
                  <a:srgbClr val="C8DDE8"/>
                </a:solidFill>
                <a:latin typeface="Calibri"/>
              </a:rPr>
              <a:t>displ</a:t>
            </a:r>
            <a:r>
              <a:rPr sz="1100" b="0" i="0" dirty="0">
                <a:solidFill>
                  <a:srgbClr val="C8DDE8"/>
                </a:solidFill>
                <a:latin typeface="Calibri"/>
              </a:rPr>
              <a:t>* y (</a:t>
            </a:r>
            <a:r>
              <a:rPr sz="1100" b="0" i="0" dirty="0" err="1">
                <a:solidFill>
                  <a:srgbClr val="C8DDE8"/>
                </a:solidFill>
                <a:latin typeface="Calibri"/>
              </a:rPr>
              <a:t>displ</a:t>
            </a:r>
            <a:r>
              <a:rPr sz="1100" b="0" i="0" dirty="0">
                <a:solidFill>
                  <a:srgbClr val="C8DDE8"/>
                </a:solidFill>
                <a:latin typeface="Calibri"/>
              </a:rPr>
              <a:t>/</a:t>
            </a:r>
            <a:r>
              <a:rPr sz="1100" b="0" i="0" dirty="0" err="1">
                <a:solidFill>
                  <a:srgbClr val="C8DDE8"/>
                </a:solidFill>
                <a:latin typeface="Calibri"/>
              </a:rPr>
              <a:t>cyl</a:t>
            </a:r>
            <a:r>
              <a:rPr sz="1100" b="0" i="0" dirty="0">
                <a:solidFill>
                  <a:srgbClr val="C8DDE8"/>
                </a:solidFill>
                <a:latin typeface="Calibri"/>
              </a:rPr>
              <a:t>)* </a:t>
            </a:r>
            <a:r>
              <a:rPr sz="1100" b="0" i="0" dirty="0" err="1">
                <a:solidFill>
                  <a:srgbClr val="C8DDE8"/>
                </a:solidFill>
                <a:latin typeface="Calibri"/>
              </a:rPr>
              <a:t>dentro</a:t>
            </a:r>
            <a:r>
              <a:rPr sz="1100" b="0" i="0" dirty="0">
                <a:solidFill>
                  <a:srgbClr val="C8DDE8"/>
                </a:solidFill>
                <a:latin typeface="Calibri"/>
              </a:rPr>
              <a:t> de M2.
</a:t>
            </a:r>
            <a:r>
              <a:rPr sz="1100" b="0" i="0" dirty="0" err="1">
                <a:solidFill>
                  <a:srgbClr val="C8DDE8"/>
                </a:solidFill>
                <a:latin typeface="Calibri"/>
              </a:rPr>
              <a:t>Opcion</a:t>
            </a:r>
            <a:r>
              <a:rPr sz="1100" b="0" i="0" dirty="0">
                <a:solidFill>
                  <a:srgbClr val="C8DDE8"/>
                </a:solidFill>
                <a:latin typeface="Calibri"/>
              </a:rPr>
              <a:t> B — (</a:t>
            </a:r>
            <a:r>
              <a:rPr sz="1100" b="0" i="0" dirty="0" err="1">
                <a:solidFill>
                  <a:srgbClr val="C8DDE8"/>
                </a:solidFill>
                <a:latin typeface="Calibri"/>
              </a:rPr>
              <a:t>displ</a:t>
            </a:r>
            <a:r>
              <a:rPr sz="1100" b="0" i="0" dirty="0">
                <a:solidFill>
                  <a:srgbClr val="C8DDE8"/>
                </a:solidFill>
                <a:latin typeface="Calibri"/>
              </a:rPr>
              <a:t>/</a:t>
            </a:r>
            <a:r>
              <a:rPr sz="1100" b="0" i="0" dirty="0" err="1">
                <a:solidFill>
                  <a:srgbClr val="C8DDE8"/>
                </a:solidFill>
                <a:latin typeface="Calibri"/>
              </a:rPr>
              <a:t>cyl</a:t>
            </a:r>
            <a:r>
              <a:rPr sz="1100" b="0" i="0" dirty="0">
                <a:solidFill>
                  <a:srgbClr val="C8DDE8"/>
                </a:solidFill>
                <a:latin typeface="Calibri"/>
              </a:rPr>
              <a:t>)*:year*   </a:t>
            </a:r>
            <a:r>
              <a:rPr sz="1100" b="0" i="0" dirty="0" err="1">
                <a:solidFill>
                  <a:srgbClr val="C8DDE8"/>
                </a:solidFill>
                <a:latin typeface="Calibri"/>
              </a:rPr>
              <a:t>Coherente</a:t>
            </a:r>
            <a:r>
              <a:rPr sz="1100" b="0" i="0" dirty="0">
                <a:solidFill>
                  <a:srgbClr val="C8DDE8"/>
                </a:solidFill>
                <a:latin typeface="Calibri"/>
              </a:rPr>
              <a:t> con M2, sin </a:t>
            </a:r>
            <a:r>
              <a:rPr sz="1100" b="0" i="0" dirty="0" err="1">
                <a:solidFill>
                  <a:srgbClr val="C8DDE8"/>
                </a:solidFill>
                <a:latin typeface="Calibri"/>
              </a:rPr>
              <a:t>colinealidad</a:t>
            </a:r>
            <a:r>
              <a:rPr sz="1100" b="0" i="0" dirty="0">
                <a:solidFill>
                  <a:srgbClr val="C8DDE8"/>
                </a:solidFill>
                <a:latin typeface="Calibri"/>
              </a:rPr>
              <a:t> interna. Pero la </a:t>
            </a:r>
            <a:r>
              <a:rPr sz="1100" b="0" i="0" dirty="0" err="1">
                <a:solidFill>
                  <a:srgbClr val="C8DDE8"/>
                </a:solidFill>
                <a:latin typeface="Calibri"/>
              </a:rPr>
              <a:t>interaccion</a:t>
            </a:r>
            <a:r>
              <a:rPr sz="1100" b="0" i="0" dirty="0">
                <a:solidFill>
                  <a:srgbClr val="C8DDE8"/>
                </a:solidFill>
                <a:latin typeface="Calibri"/>
              </a:rPr>
              <a:t> no es </a:t>
            </a:r>
            <a:r>
              <a:rPr sz="1100" b="0" i="0" dirty="0" err="1">
                <a:solidFill>
                  <a:srgbClr val="C8DDE8"/>
                </a:solidFill>
                <a:latin typeface="Calibri"/>
              </a:rPr>
              <a:t>directamente</a:t>
            </a:r>
            <a:r>
              <a:rPr sz="1100" b="0" i="0" dirty="0">
                <a:solidFill>
                  <a:srgbClr val="C8DDE8"/>
                </a:solidFill>
                <a:latin typeface="Calibri"/>
              </a:rPr>
              <a:t> comparable con M0 y M1.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8412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Como comparamos los modelos?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Criterios para elegir entre M0, M1 y M2 — el ganador se usa en todos los submodelos.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42415"/>
            <a:ext cx="8595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042415"/>
            <a:ext cx="502920" cy="749808"/>
          </a:xfrm>
          <a:prstGeom prst="rect">
            <a:avLst/>
          </a:prstGeom>
          <a:solidFill>
            <a:srgbClr val="0D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042415"/>
            <a:ext cx="502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097280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  <a:latin typeface="Calibri"/>
              </a:rPr>
              <a:t>AIC / BIC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444751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Penalizan la complejidad. Menor AIC/BIC es preferido cuando el ajuste entre candidatos es similar.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19655"/>
            <a:ext cx="8595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1819655"/>
            <a:ext cx="502920" cy="749808"/>
          </a:xfrm>
          <a:prstGeom prst="rect">
            <a:avLst/>
          </a:prstGeom>
          <a:solidFill>
            <a:srgbClr val="0D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1819655"/>
            <a:ext cx="502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74519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  <a:latin typeface="Calibri"/>
              </a:rPr>
              <a:t>R2 ajustado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221991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Proporcion de varianza explicada corregida por numero de predictores. No sube gratis al agregar variables.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596896"/>
            <a:ext cx="8595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4320" y="2596896"/>
            <a:ext cx="502920" cy="749808"/>
          </a:xfrm>
          <a:prstGeom prst="rect">
            <a:avLst/>
          </a:prstGeom>
          <a:solidFill>
            <a:srgbClr val="0D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4320" y="2596896"/>
            <a:ext cx="502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651760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  <a:latin typeface="Calibri"/>
              </a:rPr>
              <a:t>VIF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999232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Variance Inflation Factor. VIF &gt; 10 indica colinealidad problematica. M1 tendra VIF alto entre displ y cylinders.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374136"/>
            <a:ext cx="8595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74320" y="3374136"/>
            <a:ext cx="502920" cy="749808"/>
          </a:xfrm>
          <a:prstGeom prst="rect">
            <a:avLst/>
          </a:prstGeom>
          <a:solidFill>
            <a:srgbClr val="0D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4320" y="3374136"/>
            <a:ext cx="502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429000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  <a:latin typeface="Calibri"/>
              </a:rPr>
              <a:t>Diagnostico de residuos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776472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Normalidad (QQ-plot), homocedasticidad (Breusch-Pagan), independencia de los errores.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151376"/>
            <a:ext cx="8595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74320" y="4151376"/>
            <a:ext cx="502920" cy="749808"/>
          </a:xfrm>
          <a:prstGeom prst="rect">
            <a:avLst/>
          </a:prstGeom>
          <a:solidFill>
            <a:srgbClr val="0D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74320" y="4151376"/>
            <a:ext cx="502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206240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  <a:latin typeface="Calibri"/>
              </a:rPr>
              <a:t>Interpretabilidad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4553712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Los coeficientes deben tener sentido mecanico. Un modelo mas ajustado pero ininterpretable no sirve.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8412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Submodelos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Una vez elegido el modelo base, se replica la misma especificacion filtrada por: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4160520" cy="3858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4160520" cy="384048"/>
          </a:xfrm>
          <a:prstGeom prst="rect">
            <a:avLst/>
          </a:prstGeom>
          <a:solidFill>
            <a:srgbClr val="0D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4048" y="1024128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Por fabricante — top 10 marcas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463040"/>
            <a:ext cx="3931920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Pregunta: que marcas producen vehiculos mas eficientes para un motor del mismo tamanio?
Seleccion: las 10 marcas con mas observaciones en el dataset limpio.
Permite comparar el efecto fabricante sobre la eficiencia controlando por las mismas variables del modelo global.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0" y="1005840"/>
            <a:ext cx="4160520" cy="3858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09160" y="1005840"/>
            <a:ext cx="4160520" cy="38404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18888" y="1024128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Por modelo — top 10 modelos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8888" y="1463040"/>
            <a:ext cx="3931920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Pregunta: como ha mejorado la eficiencia de modelos iconicos a lo largo del tiempo?
Seleccion: los 10 modelos con mas observaciones (Corolla, Civic, F-150, Camry, etc.).
Decadas de historial hacen que la interaccion displ*year sea especialmente informativa en estos casos.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8412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Asignacion de tareas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0C4BF"/>
                </a:solidFill>
                <a:latin typeface="Calibri"/>
              </a:rPr>
              <a:t>Cada integrante ejecuta e interpreta un modelo. Comparamos resultados juntos al final.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42415"/>
            <a:ext cx="8412480" cy="969264"/>
          </a:xfrm>
          <a:prstGeom prst="rect">
            <a:avLst/>
          </a:prstGeom>
          <a:solidFill>
            <a:srgbClr val="1E3D5A"/>
          </a:solidFill>
          <a:ln w="6350">
            <a:solidFill>
              <a:srgbClr val="2D5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042415"/>
            <a:ext cx="914400" cy="969264"/>
          </a:xfrm>
          <a:prstGeom prst="rect">
            <a:avLst/>
          </a:prstGeom>
          <a:solidFill>
            <a:srgbClr val="0D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042415"/>
            <a:ext cx="91440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3A5C"/>
                </a:solidFill>
                <a:latin typeface="Calibri"/>
              </a:rPr>
              <a:t>M0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207007"/>
            <a:ext cx="7132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DE8"/>
                </a:solidFill>
                <a:latin typeface="Calibri"/>
              </a:rPr>
              <a:t>Modelo base: displ* como descriptor del motor + interaccion displ*:year* + controles.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21408"/>
            <a:ext cx="8412480" cy="969264"/>
          </a:xfrm>
          <a:prstGeom prst="rect">
            <a:avLst/>
          </a:prstGeom>
          <a:solidFill>
            <a:srgbClr val="1E3D5A"/>
          </a:solidFill>
          <a:ln w="6350">
            <a:solidFill>
              <a:srgbClr val="2D5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2121408"/>
            <a:ext cx="914400" cy="9692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2121408"/>
            <a:ext cx="91440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3A5C"/>
                </a:solidFill>
                <a:latin typeface="Calibri"/>
              </a:rPr>
              <a:t>M1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286000"/>
            <a:ext cx="7132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DE8"/>
                </a:solidFill>
                <a:latin typeface="Calibri"/>
              </a:rPr>
              <a:t>Modelo con cilindros: displ* + cylinders categorica (ref: 4 cil.) + interaccion displ*:year* + controles.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200400"/>
            <a:ext cx="8412480" cy="969264"/>
          </a:xfrm>
          <a:prstGeom prst="rect">
            <a:avLst/>
          </a:prstGeom>
          <a:solidFill>
            <a:srgbClr val="1E3D5A"/>
          </a:solidFill>
          <a:ln w="6350">
            <a:solidFill>
              <a:srgbClr val="2D5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" y="3200400"/>
            <a:ext cx="914400" cy="9692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3200400"/>
            <a:ext cx="91440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3A5C"/>
                </a:solidFill>
                <a:latin typeface="Calibri"/>
              </a:rPr>
              <a:t>M2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364992"/>
            <a:ext cx="7132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DE8"/>
                </a:solidFill>
                <a:latin typeface="Calibri"/>
              </a:rPr>
              <a:t>Modelo ratio: (displ/cyl)* + interaccion pendiente de decision + controles.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370831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Cada uno entrega: codigo R + summary() + diagnostico de residuos (QQ-plot, Breusch-Pagan) + VIF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1085</Words>
  <Application>Microsoft Office PowerPoint</Application>
  <PresentationFormat>On-screen Show (16:9)</PresentationFormat>
  <Paragraphs>87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Benjamín Andrés Vásquez Dekock</cp:lastModifiedBy>
  <cp:revision>1</cp:revision>
  <dcterms:created xsi:type="dcterms:W3CDTF">2013-01-27T09:14:16Z</dcterms:created>
  <dcterms:modified xsi:type="dcterms:W3CDTF">2026-06-09T23:02:52Z</dcterms:modified>
  <cp:category/>
</cp:coreProperties>
</file>